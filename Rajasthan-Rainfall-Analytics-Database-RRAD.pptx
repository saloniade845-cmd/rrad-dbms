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</p:embeddedFont>
    <p:embeddedFont>
      <p:font typeface="Roboto Bold" panose="020B0604020202020204" charset="0"/>
      <p:regular r:id="rId19"/>
    </p:embeddedFont>
    <p:embeddedFont>
      <p:font typeface="Roboto Slab" panose="020F0502020204030204" pitchFamily="2" charset="0"/>
      <p:regular r:id="rId20"/>
    </p:embeddedFont>
    <p:embeddedFont>
      <p:font typeface="Roboto Slab Light" pitchFamily="2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02.05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2321 1,'-20'1,"0"1,-26 5,-15 3,-427-2,286-10,-363 2,535 1,1 3,0 0,-38 11,-50 7,-65 7,50-6,89-19,-79-3,-7 0,107 3,5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02.5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05.4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0 158,'64'-4,"-1"-2,0-4,81-22,6-1,-38 11,-35 5,0 3,153-6,-33 20,129 3,-213 10,18 0,-73-9,90 18,-96-12,1-2,68 1,-117-9,0-1,0 1,1 0,-1 1,0-1,1 1,6 2,-11-3,0 0,0 0,1 0,-1 0,0 0,0 0,0 0,0 0,0 0,0 0,0 0,1 0,-1 0,0 0,0 0,0 0,0 0,0 0,0 0,0 0,0 1,0-1,0 0,1 0,-1 0,0 0,0 0,0 0,0 0,0 0,0 1,0-1,0 0,0 0,0 0,0 0,0 0,0 0,0 0,0 1,0-1,0 0,0 0,0 0,0 0,0 0,0 0,0 0,0 1,0-1,0 0,0 0,0 0,-1 0,1 0,0 0,0 0,0 0,0 0,0 0,0 0,0 1,-1-1,-11 4,-18 2,-204 35,77-12,-213 12,243-42,107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05.87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06.01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06.1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06.97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1216 0,'-809'0,"791"1,1 1,0 1,0 1,0 0,-26 10,-32 9,-8-1,-14 4,74-22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13.62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13.81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14.9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2436 598,'79'-3,"110"-20,-88 9,117-9,254 8,-127 15,-653-18,229 11,-812-76,237-31,410 62,-550-114,434 98,256 59,-156 6,138 5,98-2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25.20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26.2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7825 6975,'50'2,"70"12,-37-4,277 39,-237-31,-14-7,204-8,-155-6,394 3,-530 1,0 1,32 8,29 2,-78-11,23 1,-27-2,0 0,0 0,0 0,0 0,0 0,-1 0,1 0,0 1,0-1,0 0,0 1,-1-1,1 0,0 1,0-1,-1 1,1-1,0 1,-1 0,1-1,-1 1,1 0,0 0,-2 0,0 0,0 0,0 0,0 0,0-1,0 1,0 0,0-1,0 1,-1-1,1 0,0 1,0-1,-1 0,1 1,0-1,0 0,-1 0,-1 0,0 0,-27 3,-1-1,-53-4,62 1,-211-20,-169-38,-149-50,-112-65,-63-67,-34-78,356 115,8-17,11-17,-674-549,39-164,65-71,419 405,71 56,80 72,84 86,80 92,62 79,49 64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41.25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0,'939'0,"-907"2,55 9,-53-5,42 2,508-7,-282-3,-186 0,129 5,-211 5,-22-2,-12-5,0-1,0 0,0 0,0 0,0 1,0-1,0 0,0 0,0 1,0-1,0 0,0 0,0 0,-1 0,1 1,0-1,0 0,0 0,0 0,0 0,-1 1,1-1,0 0,0 0,0 0,0 0,-1 0,1 0,0 1,0-1,0 0,-1 0,1 0,0 0,0 0,0 0,-1 0,1 0,0 0,0 0,-1 0,1 0,0 0,0 0,0 0,-1 0,1-1,0 1,-24 3,-43-1,34-2,-728 2,496-3,236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41.5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41.74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41.9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3T17:36:42.14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36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.png"/><Relationship Id="rId18" Type="http://schemas.openxmlformats.org/officeDocument/2006/relationships/customXml" Target="../ink/ink11.xml"/><Relationship Id="rId26" Type="http://schemas.openxmlformats.org/officeDocument/2006/relationships/customXml" Target="../ink/ink17.xml"/><Relationship Id="rId3" Type="http://schemas.openxmlformats.org/officeDocument/2006/relationships/customXml" Target="../ink/ink1.xml"/><Relationship Id="rId21" Type="http://schemas.openxmlformats.org/officeDocument/2006/relationships/customXml" Target="../ink/ink13.xml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image" Target="../media/image6.png"/><Relationship Id="rId25" Type="http://schemas.openxmlformats.org/officeDocument/2006/relationships/customXml" Target="../ink/ink16.xml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10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6.xml"/><Relationship Id="rId24" Type="http://schemas.openxmlformats.org/officeDocument/2006/relationships/customXml" Target="../ink/ink15.xml"/><Relationship Id="rId5" Type="http://schemas.openxmlformats.org/officeDocument/2006/relationships/customXml" Target="../ink/ink2.xml"/><Relationship Id="rId15" Type="http://schemas.openxmlformats.org/officeDocument/2006/relationships/customXml" Target="../ink/ink9.xml"/><Relationship Id="rId23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customXml" Target="../ink/ink8.xml"/><Relationship Id="rId22" Type="http://schemas.openxmlformats.org/officeDocument/2006/relationships/image" Target="../media/image8.png"/><Relationship Id="rId27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10" Type="http://schemas.openxmlformats.org/officeDocument/2006/relationships/image" Target="../media/image9.pn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5751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Rajasthan Rainfall Analytics Database (RRAD)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4032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DBMS – TAE 2 Project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28810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15213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534470"/>
            <a:ext cx="10868745" cy="116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B.Tech CSE (Data Science)</a:t>
            </a:r>
            <a:endParaRPr lang="en-US" sz="1300" dirty="0"/>
          </a:p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H Raisoni College of Engineering and Management, Pune</a:t>
            </a:r>
            <a:endParaRPr lang="en-US" sz="13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Technology: MySQL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FA241C1-873D-62E4-D9E6-99565FD23199}"/>
                  </a:ext>
                </a:extLst>
              </p14:cNvPr>
              <p14:cNvContentPartPr/>
              <p14:nvPr/>
            </p14:nvContentPartPr>
            <p14:xfrm>
              <a:off x="11247752" y="6624470"/>
              <a:ext cx="835560" cy="50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FA241C1-873D-62E4-D9E6-99565FD231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57752" y="6444830"/>
                <a:ext cx="101520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8F8B79-F51B-8AD9-1C93-638FD29651C6}"/>
                  </a:ext>
                </a:extLst>
              </p14:cNvPr>
              <p14:cNvContentPartPr/>
              <p14:nvPr/>
            </p14:nvContentPartPr>
            <p14:xfrm>
              <a:off x="11243072" y="6736614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8F8B79-F51B-8AD9-1C93-638FD29651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53432" y="655661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174D3C-E0E3-A0BE-148C-997A27DD9E31}"/>
                  </a:ext>
                </a:extLst>
              </p14:cNvPr>
              <p14:cNvContentPartPr/>
              <p14:nvPr/>
            </p14:nvContentPartPr>
            <p14:xfrm>
              <a:off x="11065952" y="6567774"/>
              <a:ext cx="800640" cy="76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174D3C-E0E3-A0BE-148C-997A27DD9E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75952" y="6387774"/>
                <a:ext cx="98028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BA28694-D739-2B11-E9A5-3618C037719A}"/>
                  </a:ext>
                </a:extLst>
              </p14:cNvPr>
              <p14:cNvContentPartPr/>
              <p14:nvPr/>
            </p14:nvContentPartPr>
            <p14:xfrm>
              <a:off x="11513792" y="6643374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BA28694-D739-2B11-E9A5-3618C03771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24152" y="646337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5661A56-3F56-4CA0-B289-7CC9D4E94548}"/>
                  </a:ext>
                </a:extLst>
              </p14:cNvPr>
              <p14:cNvContentPartPr/>
              <p14:nvPr/>
            </p14:nvContentPartPr>
            <p14:xfrm>
              <a:off x="11513792" y="6643374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5661A56-3F56-4CA0-B289-7CC9D4E945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24152" y="646337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5150FC9-E0CA-45A0-27BB-38484115A73A}"/>
                  </a:ext>
                </a:extLst>
              </p14:cNvPr>
              <p14:cNvContentPartPr/>
              <p14:nvPr/>
            </p14:nvContentPartPr>
            <p14:xfrm>
              <a:off x="11513792" y="6643374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5150FC9-E0CA-45A0-27BB-38484115A7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24152" y="646337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6C19C1A-7E33-63FE-4BE2-74A5A81AAE60}"/>
                  </a:ext>
                </a:extLst>
              </p14:cNvPr>
              <p14:cNvContentPartPr/>
              <p14:nvPr/>
            </p14:nvContentPartPr>
            <p14:xfrm>
              <a:off x="11076392" y="6643374"/>
              <a:ext cx="437760" cy="37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6C19C1A-7E33-63FE-4BE2-74A5A81AAE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86392" y="6463374"/>
                <a:ext cx="61740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94E843E-DA19-6E59-D48F-1CA5156653FC}"/>
                  </a:ext>
                </a:extLst>
              </p14:cNvPr>
              <p14:cNvContentPartPr/>
              <p14:nvPr/>
            </p14:nvContentPartPr>
            <p14:xfrm>
              <a:off x="11168552" y="6634014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94E843E-DA19-6E59-D48F-1CA5156653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8912" y="645401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67E6B70-895A-484C-AF63-6FD1D267B5BF}"/>
                  </a:ext>
                </a:extLst>
              </p14:cNvPr>
              <p14:cNvContentPartPr/>
              <p14:nvPr/>
            </p14:nvContentPartPr>
            <p14:xfrm>
              <a:off x="11168552" y="6634014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67E6B70-895A-484C-AF63-6FD1D267B5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8912" y="645401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84F0056-BDA9-3F2E-CDBC-6DC6DAE098BF}"/>
                  </a:ext>
                </a:extLst>
              </p14:cNvPr>
              <p14:cNvContentPartPr/>
              <p14:nvPr/>
            </p14:nvContentPartPr>
            <p14:xfrm>
              <a:off x="10291952" y="6418734"/>
              <a:ext cx="1382760" cy="215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84F0056-BDA9-3F2E-CDBC-6DC6DAE098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01952" y="6238734"/>
                <a:ext cx="156240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8C1CF22-E4E2-5FBF-13F7-E044E208EF76}"/>
                  </a:ext>
                </a:extLst>
              </p14:cNvPr>
              <p14:cNvContentPartPr/>
              <p14:nvPr/>
            </p14:nvContentPartPr>
            <p14:xfrm>
              <a:off x="11131112" y="6605934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8C1CF22-E4E2-5FBF-13F7-E044E208EF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41472" y="642593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7A30448-6592-A1A0-B1C7-79A695DE4BA2}"/>
                  </a:ext>
                </a:extLst>
              </p14:cNvPr>
              <p14:cNvContentPartPr/>
              <p14:nvPr/>
            </p14:nvContentPartPr>
            <p14:xfrm>
              <a:off x="8314472" y="4094934"/>
              <a:ext cx="3573720" cy="2567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7A30448-6592-A1A0-B1C7-79A695DE4BA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224472" y="3915294"/>
                <a:ext cx="3753360" cy="29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E6D0DC5-E106-5683-C361-1F864F55D8BE}"/>
                  </a:ext>
                </a:extLst>
              </p14:cNvPr>
              <p14:cNvContentPartPr/>
              <p14:nvPr/>
            </p14:nvContentPartPr>
            <p14:xfrm>
              <a:off x="11094032" y="6634014"/>
              <a:ext cx="886320" cy="19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E6D0DC5-E106-5683-C361-1F864F55D8B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004032" y="6454014"/>
                <a:ext cx="10659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34EE100-4B55-1AA9-48AF-8FCD279110AA}"/>
                  </a:ext>
                </a:extLst>
              </p14:cNvPr>
              <p14:cNvContentPartPr/>
              <p14:nvPr/>
            </p14:nvContentPartPr>
            <p14:xfrm>
              <a:off x="11551232" y="6652374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34EE100-4B55-1AA9-48AF-8FCD279110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61232" y="647273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26C4C49-15B1-68DC-805E-9492362DF647}"/>
                  </a:ext>
                </a:extLst>
              </p14:cNvPr>
              <p14:cNvContentPartPr/>
              <p14:nvPr/>
            </p14:nvContentPartPr>
            <p14:xfrm>
              <a:off x="11551232" y="6652374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26C4C49-15B1-68DC-805E-9492362DF6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61232" y="647273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BA2A29E-5915-F926-E11F-C127717E08B2}"/>
                  </a:ext>
                </a:extLst>
              </p14:cNvPr>
              <p14:cNvContentPartPr/>
              <p14:nvPr/>
            </p14:nvContentPartPr>
            <p14:xfrm>
              <a:off x="11551232" y="6652374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BA2A29E-5915-F926-E11F-C127717E08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61232" y="6472734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D83A2B5-9A1E-B243-4AD2-E4E07E972E71}"/>
                  </a:ext>
                </a:extLst>
              </p14:cNvPr>
              <p14:cNvContentPartPr/>
              <p14:nvPr/>
            </p14:nvContentPartPr>
            <p14:xfrm>
              <a:off x="11551232" y="6652374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D83A2B5-9A1E-B243-4AD2-E4E07E972E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61232" y="6472734"/>
                <a:ext cx="180000" cy="360000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C17B35F8-7A15-7942-E88D-1860F938BBE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6933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Overview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3034109"/>
            <a:ext cx="6296860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for Rajasthan rainfall analysis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Organizes data by region and district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actual and normal rainfall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data consistency using constraints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SQL-based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98079"/>
            <a:ext cx="1819031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347688"/>
            <a:ext cx="223018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1557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 Architecture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6392"/>
            <a:ext cx="6134343" cy="28073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54892" y="2990063"/>
            <a:ext cx="1356966" cy="16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RAINFALL_RECORD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154892" y="3207937"/>
            <a:ext cx="1495678" cy="135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 rainfall observations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4663" y="3912822"/>
            <a:ext cx="1356966" cy="16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DISTRICT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6570" y="4130696"/>
            <a:ext cx="1375059" cy="135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 districts of Rajasthan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54892" y="4321430"/>
            <a:ext cx="1356966" cy="16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54892" y="4539304"/>
            <a:ext cx="1495678" cy="27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East Rajasthan, West Rajasthan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205581" y="2545655"/>
            <a:ext cx="433088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 represents East Rajasthan and West Rajasthan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05581" y="3128665"/>
            <a:ext cx="43308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DISTRICT contains 33 Rajasthan districts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05581" y="3453209"/>
            <a:ext cx="433088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RAINFALL_RECORD stores rainfall observations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05581" y="4197449"/>
            <a:ext cx="4330889" cy="19050"/>
          </a:xfrm>
          <a:prstGeom prst="roundRect">
            <a:avLst>
              <a:gd name="adj" fmla="val 49999"/>
            </a:avLst>
          </a:prstGeom>
          <a:solidFill>
            <a:srgbClr val="15213F">
              <a:alpha val="5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205581" y="4443809"/>
            <a:ext cx="494047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Foreign keys connect the tables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0741175-72AE-4970-2FA3-5FB9AC7A9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6354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1417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Relational Schema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302147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database schema is designed to efficiently store and link rainfall data, ensuring data integrity across different geographical levels of Rajasthan.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548805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 Table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21458"/>
          <a:ext cx="10868745" cy="727651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Column Name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 Type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Key/Description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Primary Key, Unique Identifier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RegionName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VARCHAR(50)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e.g., 'East Rajasthan', 'West Rajasthan'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2666603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DISTRICT Table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939256"/>
          <a:ext cx="10868745" cy="972318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Column Name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 Type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Key/Description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DistrictID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Primary Key, Unique Identifier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DistrictName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VARCHAR(50)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Name of the district (e.g., 'Jaipur')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Foreign Key (references </a:t>
                      </a: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REGION.RegionID</a:t>
                      </a: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1475" y="4029075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RAINFALL_RECORD Table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301728"/>
          <a:ext cx="10868745" cy="146165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Column Name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 Type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Key/Description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RecordID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Primary Key, Unique Identifier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DistrictID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Foreign Key (references </a:t>
                      </a: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DISTRICT.DistrictID</a:t>
                      </a: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RecordDate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Date of rainfall recording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ActualRainfall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DECIMAL(5,2)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Actual rainfall recorded in mm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4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NormalRainfall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DECIMAL(5,2)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5213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Normal expected rainfall in mm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7504" marR="107504" marT="6350" marB="6350" anchor="ctr">
                    <a:lnL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61475" y="5854700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keys ensure unique identification for each record, while foreign keys establish the hierarchical relationship between regions, districts, and their respective rainfall data, maintaining referential integrity.</a:t>
            </a:r>
            <a:endParaRPr lang="en-US" sz="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3D8FE9-60BF-8DC3-E672-D431EFE4F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36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Relational Schema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9104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Three-table parent-child hierarchy with clear keys and foreign-key relationships.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27734"/>
            <a:ext cx="3316304" cy="1392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3012083"/>
            <a:ext cx="28714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3435846"/>
            <a:ext cx="2871418" cy="59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region_id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region_name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7542" y="2827734"/>
            <a:ext cx="3429113" cy="1721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8084" y="3012083"/>
            <a:ext cx="29842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DISTRICT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648084" y="3435846"/>
            <a:ext cx="2984227" cy="9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district_id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district_name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region_id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FK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6418" y="2827734"/>
            <a:ext cx="3316304" cy="20498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86960" y="3012083"/>
            <a:ext cx="28714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RAINFALL_RECORD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486960" y="3435846"/>
            <a:ext cx="2871418" cy="1257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record_id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district_id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FK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actual_rainfall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normal_rainfall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61475" y="524966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REGION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1→MANY </a:t>
            </a: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DISTRICT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DISTRICT</a:t>
            </a: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1→MANY </a:t>
            </a: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RAINFALL_RECORD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503AAC-A327-6E88-5244-45E9153B07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451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Integrity Constraints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81945"/>
            <a:ext cx="10868745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regions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 districts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 rainfall observations currently loaded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District names are unique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 rainfall cannot be negative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rainfall must be greater than zero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44901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065018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Primary Key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4444901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3213" y="506501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Foreign Key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4444901"/>
            <a:ext cx="413434" cy="4134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45050" y="506501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Validation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FAB758-A63D-31FD-0AEC-D3CB470F2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2189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SQL Implementation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61475" y="2111573"/>
            <a:ext cx="2605221" cy="1760041"/>
          </a:xfrm>
          <a:prstGeom prst="roundRect">
            <a:avLst>
              <a:gd name="adj" fmla="val 1339"/>
            </a:avLst>
          </a:prstGeom>
          <a:solidFill>
            <a:srgbClr val="E9ECF2"/>
          </a:solidFill>
          <a:ln/>
        </p:spPr>
      </p:sp>
      <p:sp>
        <p:nvSpPr>
          <p:cNvPr id="4" name="Shape 2"/>
          <p:cNvSpPr/>
          <p:nvPr/>
        </p:nvSpPr>
        <p:spPr>
          <a:xfrm>
            <a:off x="818534" y="2268637"/>
            <a:ext cx="471277" cy="47128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111" y="2398216"/>
            <a:ext cx="212025" cy="212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534" y="2889151"/>
            <a:ext cx="229110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JOIN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8534" y="3224213"/>
            <a:ext cx="229110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data from 3 tables.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15917" y="2111573"/>
            <a:ext cx="2605320" cy="1760041"/>
          </a:xfrm>
          <a:prstGeom prst="roundRect">
            <a:avLst>
              <a:gd name="adj" fmla="val 1339"/>
            </a:avLst>
          </a:prstGeom>
          <a:solidFill>
            <a:srgbClr val="E9ECF2"/>
          </a:solidFill>
          <a:ln/>
        </p:spPr>
      </p:sp>
      <p:sp>
        <p:nvSpPr>
          <p:cNvPr id="9" name="Shape 6"/>
          <p:cNvSpPr/>
          <p:nvPr/>
        </p:nvSpPr>
        <p:spPr>
          <a:xfrm>
            <a:off x="3572976" y="2268637"/>
            <a:ext cx="471277" cy="47128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2553" y="2398216"/>
            <a:ext cx="212025" cy="2120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72976" y="2889151"/>
            <a:ext cx="229120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SUBQUERY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72976" y="3224213"/>
            <a:ext cx="229120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districts above average rainfall.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70458" y="2111573"/>
            <a:ext cx="2605221" cy="1760041"/>
          </a:xfrm>
          <a:prstGeom prst="roundRect">
            <a:avLst>
              <a:gd name="adj" fmla="val 1339"/>
            </a:avLst>
          </a:prstGeom>
          <a:solidFill>
            <a:srgbClr val="E9ECF2"/>
          </a:solidFill>
          <a:ln/>
        </p:spPr>
      </p:sp>
      <p:sp>
        <p:nvSpPr>
          <p:cNvPr id="14" name="Shape 10"/>
          <p:cNvSpPr/>
          <p:nvPr/>
        </p:nvSpPr>
        <p:spPr>
          <a:xfrm>
            <a:off x="6327517" y="2268637"/>
            <a:ext cx="471277" cy="47128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7094" y="2398216"/>
            <a:ext cx="212025" cy="2120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7517" y="2889151"/>
            <a:ext cx="229110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VIEW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27517" y="3224213"/>
            <a:ext cx="229110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reusable summary results.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924900" y="2111573"/>
            <a:ext cx="2605320" cy="1760041"/>
          </a:xfrm>
          <a:prstGeom prst="roundRect">
            <a:avLst>
              <a:gd name="adj" fmla="val 1339"/>
            </a:avLst>
          </a:prstGeom>
          <a:solidFill>
            <a:srgbClr val="E9ECF2"/>
          </a:solidFill>
          <a:ln/>
        </p:spPr>
      </p:sp>
      <p:sp>
        <p:nvSpPr>
          <p:cNvPr id="19" name="Shape 14"/>
          <p:cNvSpPr/>
          <p:nvPr/>
        </p:nvSpPr>
        <p:spPr>
          <a:xfrm>
            <a:off x="9081960" y="2268637"/>
            <a:ext cx="471277" cy="47128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11536" y="2398216"/>
            <a:ext cx="212025" cy="2120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81960" y="2889151"/>
            <a:ext cx="229120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TRIGGER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081960" y="3224213"/>
            <a:ext cx="2291201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invalid rainfall values.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61475" y="4020840"/>
            <a:ext cx="5359762" cy="1514872"/>
          </a:xfrm>
          <a:prstGeom prst="roundRect">
            <a:avLst>
              <a:gd name="adj" fmla="val 1556"/>
            </a:avLst>
          </a:prstGeom>
          <a:solidFill>
            <a:srgbClr val="E9ECF2"/>
          </a:solidFill>
          <a:ln/>
        </p:spPr>
      </p:sp>
      <p:sp>
        <p:nvSpPr>
          <p:cNvPr id="24" name="Shape 18"/>
          <p:cNvSpPr/>
          <p:nvPr/>
        </p:nvSpPr>
        <p:spPr>
          <a:xfrm>
            <a:off x="818534" y="4177903"/>
            <a:ext cx="471277" cy="47128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8111" y="4307483"/>
            <a:ext cx="212025" cy="2120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8534" y="4798417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STORED PROCEDURE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818534" y="5133479"/>
            <a:ext cx="50456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Retrieves rainfall by region.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70458" y="4020840"/>
            <a:ext cx="5359762" cy="1514872"/>
          </a:xfrm>
          <a:prstGeom prst="roundRect">
            <a:avLst>
              <a:gd name="adj" fmla="val 1556"/>
            </a:avLst>
          </a:prstGeom>
          <a:solidFill>
            <a:srgbClr val="E9ECF2"/>
          </a:solidFill>
          <a:ln/>
        </p:spPr>
      </p:sp>
      <p:sp>
        <p:nvSpPr>
          <p:cNvPr id="29" name="Shape 22"/>
          <p:cNvSpPr/>
          <p:nvPr/>
        </p:nvSpPr>
        <p:spPr>
          <a:xfrm>
            <a:off x="6327517" y="4177903"/>
            <a:ext cx="471277" cy="47128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7094" y="4307483"/>
            <a:ext cx="212025" cy="21203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27517" y="4798417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INDEX + EXPLAIN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6327517" y="5133479"/>
            <a:ext cx="50456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query optimization.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B0A0D16-279D-98CA-93F9-AEFDCAF356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56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 Views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0304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reusable virtual tables simplify rainfall analysis and reporting.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71899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View 1: </a:t>
            </a:r>
            <a:r>
              <a:rPr lang="en-US" sz="16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rainfall_summary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142754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District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 rainfall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rainfall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Percentage Departure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71899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View 2: </a:t>
            </a:r>
            <a:r>
              <a:rPr lang="en-US" sz="16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region_rainfall_summary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142754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District count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actual rainfall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normal rainfall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941094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180806"/>
            <a:ext cx="206667" cy="1652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8731" y="514766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Percentage Departure is calculated dynamically using SQL.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2B2CA8-4EF8-A99B-0C20-1C1DED710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573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Trigger &amp; Stored Procedure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688505"/>
            <a:ext cx="790456" cy="213717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9" y="1739106"/>
            <a:ext cx="112412" cy="1124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377" y="1730673"/>
            <a:ext cx="1062805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61475" y="1949946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check_rainfall_values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475" y="2288977"/>
            <a:ext cx="5872512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before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INSERT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</a:t>
            </a: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RAINFALL_RECORD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37730"/>
            <a:ext cx="5262927" cy="872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7213" y="2797274"/>
            <a:ext cx="486764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Rejects Negative Rainfall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7213" y="3136305"/>
            <a:ext cx="4867649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actual_rainfall &lt; 0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629720"/>
            <a:ext cx="5262927" cy="8725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7213" y="3789263"/>
            <a:ext cx="486764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Rejects Invalid Baseline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97213" y="4128294"/>
            <a:ext cx="4867649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normal_rainfall ≤ 0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621709"/>
            <a:ext cx="5262927" cy="8661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7213" y="4781252"/>
            <a:ext cx="486764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Tested Successfully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97213" y="5120283"/>
            <a:ext cx="486764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Invalid input was rejected with a clear error.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172442" y="1554163"/>
            <a:ext cx="5465328" cy="4368105"/>
          </a:xfrm>
          <a:prstGeom prst="roundRect">
            <a:avLst>
              <a:gd name="adj" fmla="val 483"/>
            </a:avLst>
          </a:prstGeom>
          <a:solidFill>
            <a:srgbClr val="1B1B27"/>
          </a:solidFill>
          <a:ln/>
        </p:spPr>
      </p:sp>
      <p:sp>
        <p:nvSpPr>
          <p:cNvPr id="18" name="Shape 12"/>
          <p:cNvSpPr/>
          <p:nvPr/>
        </p:nvSpPr>
        <p:spPr>
          <a:xfrm>
            <a:off x="6312933" y="1688505"/>
            <a:ext cx="1416114" cy="213717"/>
          </a:xfrm>
          <a:prstGeom prst="roundRect">
            <a:avLst>
              <a:gd name="adj" fmla="val 7894"/>
            </a:avLst>
          </a:prstGeom>
          <a:solidFill>
            <a:srgbClr val="101C3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267" y="1739106"/>
            <a:ext cx="112412" cy="11241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65835" y="1730673"/>
            <a:ext cx="1688462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 PROCEDURE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6312933" y="1949946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get_region_rainfall()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312933" y="2288977"/>
            <a:ext cx="579393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Takes a region name and returns district rainfall details.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2933" y="2631380"/>
            <a:ext cx="5184348" cy="87253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48671" y="2790924"/>
            <a:ext cx="478907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Input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548671" y="3129955"/>
            <a:ext cx="4789070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region_name VARCHAR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2933" y="3623370"/>
            <a:ext cx="5184348" cy="8661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48671" y="3782913"/>
            <a:ext cx="478907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Returns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6548671" y="4121944"/>
            <a:ext cx="478907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District name, actual rainfall, and normal rainfall for the region.</a:t>
            </a:r>
            <a:endParaRPr lang="en-US" sz="11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12933" y="4609009"/>
            <a:ext cx="5184348" cy="1178917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548671" y="4768552"/>
            <a:ext cx="478907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</a:t>
            </a:r>
            <a:endParaRPr lang="en-US" sz="1350" dirty="0"/>
          </a:p>
        </p:txBody>
      </p:sp>
      <p:sp>
        <p:nvSpPr>
          <p:cNvPr id="31" name="Shape 21"/>
          <p:cNvSpPr/>
          <p:nvPr/>
        </p:nvSpPr>
        <p:spPr>
          <a:xfrm>
            <a:off x="6548671" y="5122466"/>
            <a:ext cx="4789070" cy="505916"/>
          </a:xfrm>
          <a:prstGeom prst="roundRect">
            <a:avLst>
              <a:gd name="adj" fmla="val 4168"/>
            </a:avLst>
          </a:prstGeom>
          <a:solidFill>
            <a:srgbClr val="282834"/>
          </a:solidFill>
          <a:ln/>
        </p:spPr>
      </p:sp>
      <p:sp>
        <p:nvSpPr>
          <p:cNvPr id="32" name="Text 22"/>
          <p:cNvSpPr/>
          <p:nvPr/>
        </p:nvSpPr>
        <p:spPr>
          <a:xfrm>
            <a:off x="6717338" y="5262959"/>
            <a:ext cx="445173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get_region_rainfall('East Rajasthan');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F79977C-7116-5A76-6BA1-3F9ABC6ED2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94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Query Optimization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198830" y="2483743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Created index on district_id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90568" y="2483743"/>
            <a:ext cx="294781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Created index on actual_rainfall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82406" y="2483743"/>
            <a:ext cx="294781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Used EXPLAIN to inspect query execution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8830" y="3388221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Observed MySQL indexing behavior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36487" y="3388221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Indexes support faster data lookup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1475" y="3889474"/>
            <a:ext cx="10868745" cy="1389063"/>
          </a:xfrm>
          <a:prstGeom prst="roundRect">
            <a:avLst>
              <a:gd name="adj" fmla="val 1786"/>
            </a:avLst>
          </a:prstGeom>
          <a:solidFill>
            <a:srgbClr val="EEEFF1"/>
          </a:solidFill>
          <a:ln/>
        </p:spPr>
      </p:sp>
      <p:sp>
        <p:nvSpPr>
          <p:cNvPr id="9" name="Text 7"/>
          <p:cNvSpPr/>
          <p:nvPr/>
        </p:nvSpPr>
        <p:spPr>
          <a:xfrm>
            <a:off x="859907" y="4054773"/>
            <a:ext cx="1047188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range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idx_actual_rainfall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rows: fewer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0F2A13-8581-5A2C-3830-A825CA0DF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801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60274" y="1226443"/>
            <a:ext cx="4344085" cy="5023545"/>
          </a:xfrm>
          <a:prstGeom prst="roundRect">
            <a:avLst>
              <a:gd name="adj" fmla="val 485"/>
            </a:avLst>
          </a:prstGeom>
          <a:solidFill>
            <a:srgbClr val="1B1B27"/>
          </a:solidFill>
          <a:ln/>
        </p:spPr>
      </p:sp>
      <p:sp>
        <p:nvSpPr>
          <p:cNvPr id="4" name="Text 2"/>
          <p:cNvSpPr/>
          <p:nvPr/>
        </p:nvSpPr>
        <p:spPr>
          <a:xfrm>
            <a:off x="700765" y="1345902"/>
            <a:ext cx="40631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RRAD Demonstrates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1704082"/>
            <a:ext cx="210835" cy="210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7556" y="1699816"/>
            <a:ext cx="360631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Normalized Relational Database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2369046"/>
            <a:ext cx="210835" cy="210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7556" y="2364780"/>
            <a:ext cx="360631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Primary and Foreign Key Relationships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3034010"/>
            <a:ext cx="210835" cy="210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7556" y="3029744"/>
            <a:ext cx="360631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Advanced SQL Operations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3698974"/>
            <a:ext cx="210835" cy="2108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7556" y="3694708"/>
            <a:ext cx="360631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Views and Dynamic Calculations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4363938"/>
            <a:ext cx="210835" cy="2108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7556" y="4359672"/>
            <a:ext cx="360631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Trigger-Based Validation</a:t>
            </a:r>
            <a:endParaRPr lang="en-US" sz="13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5028902"/>
            <a:ext cx="210835" cy="2108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57556" y="5024636"/>
            <a:ext cx="360631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Stored Procedure Implementation</a:t>
            </a:r>
            <a:endParaRPr lang="en-US" sz="13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448" y="5693866"/>
            <a:ext cx="210835" cy="2108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57556" y="5689600"/>
            <a:ext cx="3606313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Indexing and Query Optimization</a:t>
            </a:r>
            <a:endParaRPr lang="en-US" sz="1350" dirty="0"/>
          </a:p>
        </p:txBody>
      </p:sp>
      <p:sp>
        <p:nvSpPr>
          <p:cNvPr id="19" name="Text 10"/>
          <p:cNvSpPr/>
          <p:nvPr/>
        </p:nvSpPr>
        <p:spPr>
          <a:xfrm>
            <a:off x="5152400" y="1345902"/>
            <a:ext cx="638407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DEMO FLOW</a:t>
            </a:r>
            <a:endParaRPr lang="en-US" sz="1350" dirty="0"/>
          </a:p>
        </p:txBody>
      </p:sp>
      <p:sp>
        <p:nvSpPr>
          <p:cNvPr id="20" name="Text 11"/>
          <p:cNvSpPr/>
          <p:nvPr/>
        </p:nvSpPr>
        <p:spPr>
          <a:xfrm>
            <a:off x="5152400" y="1699816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5152400" y="1919684"/>
            <a:ext cx="3132258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22" name="Text 13"/>
          <p:cNvSpPr/>
          <p:nvPr/>
        </p:nvSpPr>
        <p:spPr>
          <a:xfrm>
            <a:off x="5152400" y="2028031"/>
            <a:ext cx="313225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Show database tables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8404114" y="1699816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8404114" y="1919684"/>
            <a:ext cx="3132357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25" name="Text 16"/>
          <p:cNvSpPr/>
          <p:nvPr/>
        </p:nvSpPr>
        <p:spPr>
          <a:xfrm>
            <a:off x="8404114" y="2028031"/>
            <a:ext cx="313235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Demonstrate JOIN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5152400" y="2472432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5152400" y="2664222"/>
            <a:ext cx="3132258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28" name="Text 19"/>
          <p:cNvSpPr/>
          <p:nvPr/>
        </p:nvSpPr>
        <p:spPr>
          <a:xfrm>
            <a:off x="5152400" y="2800648"/>
            <a:ext cx="313225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Show both views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8404114" y="2472432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8404114" y="2664222"/>
            <a:ext cx="3132357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31" name="Text 22"/>
          <p:cNvSpPr/>
          <p:nvPr/>
        </p:nvSpPr>
        <p:spPr>
          <a:xfrm>
            <a:off x="8404114" y="2800648"/>
            <a:ext cx="313235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Execute stored procedure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5152400" y="3245048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5152400" y="3408759"/>
            <a:ext cx="3132258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34" name="Text 25"/>
          <p:cNvSpPr/>
          <p:nvPr/>
        </p:nvSpPr>
        <p:spPr>
          <a:xfrm>
            <a:off x="5152400" y="3573264"/>
            <a:ext cx="313225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Demonstrate trigger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8404114" y="3245048"/>
            <a:ext cx="281080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8404114" y="3408759"/>
            <a:ext cx="3132357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37" name="Text 28"/>
          <p:cNvSpPr/>
          <p:nvPr/>
        </p:nvSpPr>
        <p:spPr>
          <a:xfrm>
            <a:off x="8404114" y="3573264"/>
            <a:ext cx="313235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Show indexes and EXPLAIN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5152400" y="3948311"/>
            <a:ext cx="6384071" cy="701278"/>
          </a:xfrm>
          <a:prstGeom prst="roundRect">
            <a:avLst>
              <a:gd name="adj" fmla="val 3007"/>
            </a:avLst>
          </a:prstGeom>
          <a:solidFill>
            <a:srgbClr val="D7DFF4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890" y="4132362"/>
            <a:ext cx="175712" cy="14049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609092" y="4175125"/>
            <a:ext cx="578688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Questions?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C4692FF-A408-7771-5CDD-6447CBC05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299" y="6374766"/>
            <a:ext cx="1999701" cy="462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681</Words>
  <Application>Microsoft Office PowerPoint</Application>
  <PresentationFormat>Widescreen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</vt:lpstr>
      <vt:lpstr>Arial</vt:lpstr>
      <vt:lpstr>Consolas</vt:lpstr>
      <vt:lpstr>Roboto Slab</vt:lpstr>
      <vt:lpstr>Roboto Bold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Saloni Ade</cp:lastModifiedBy>
  <cp:revision>2</cp:revision>
  <dcterms:created xsi:type="dcterms:W3CDTF">2026-09-23T17:34:01Z</dcterms:created>
  <dcterms:modified xsi:type="dcterms:W3CDTF">2026-09-23T17:41:10Z</dcterms:modified>
</cp:coreProperties>
</file>